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817"/>
  </p:normalViewPr>
  <p:slideViewPr>
    <p:cSldViewPr snapToGrid="0">
      <p:cViewPr varScale="1">
        <p:scale>
          <a:sx n="89" d="100"/>
          <a:sy n="89" d="100"/>
        </p:scale>
        <p:origin x="2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pPr algn="ctr"/>
            <a:r>
              <a:rPr lang="en-US" sz="4400" b="0" strike="noStrike" spc="-1">
                <a:latin typeface="Arial"/>
              </a:rPr>
              <a:t>Click to move the slide</a:t>
            </a:r>
          </a:p>
        </p:txBody>
      </p:sp>
      <p:sp>
        <p:nvSpPr>
          <p:cNvPr id="39"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40"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solidFill>
                  <a:srgbClr val="303D22"/>
                </a:solidFill>
                <a:latin typeface="Arial"/>
              </a:rPr>
              <a:t>&lt;header&gt;</a:t>
            </a:r>
          </a:p>
        </p:txBody>
      </p:sp>
      <p:sp>
        <p:nvSpPr>
          <p:cNvPr id="41"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solidFill>
                  <a:srgbClr val="303D22"/>
                </a:solidFill>
                <a:latin typeface="Arial"/>
              </a:rPr>
              <a:t>&lt;date/time&gt;</a:t>
            </a:r>
          </a:p>
        </p:txBody>
      </p:sp>
      <p:sp>
        <p:nvSpPr>
          <p:cNvPr id="42"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solidFill>
                  <a:srgbClr val="303D22"/>
                </a:solidFill>
                <a:latin typeface="Arial"/>
              </a:rPr>
              <a:t>&lt;footer&gt;</a:t>
            </a:r>
          </a:p>
        </p:txBody>
      </p:sp>
      <p:sp>
        <p:nvSpPr>
          <p:cNvPr id="43" name="PlaceHolder 6"/>
          <p:cNvSpPr>
            <a:spLocks noGrp="1"/>
          </p:cNvSpPr>
          <p:nvPr>
            <p:ph type="sldNum"/>
          </p:nvPr>
        </p:nvSpPr>
        <p:spPr>
          <a:xfrm>
            <a:off x="4399200" y="9555480"/>
            <a:ext cx="3372840" cy="502560"/>
          </a:xfrm>
          <a:prstGeom prst="rect">
            <a:avLst/>
          </a:prstGeom>
        </p:spPr>
        <p:txBody>
          <a:bodyPr lIns="0" tIns="0" rIns="0" bIns="0" anchor="b"/>
          <a:lstStyle/>
          <a:p>
            <a:pPr algn="r"/>
            <a:fld id="{156CBC7E-D94B-409C-A671-D76A0540D90F}" type="slidenum">
              <a:rPr lang="en-US" sz="1400" b="0" strike="noStrike" spc="-1">
                <a:solidFill>
                  <a:srgbClr val="303D22"/>
                </a:solidFill>
                <a:latin typeface="Arial"/>
              </a:rPr>
              <a:t>‹#›</a:t>
            </a:fld>
            <a:endParaRPr lang="en-US" sz="1400" b="0" strike="noStrike" spc="-1">
              <a:solidFill>
                <a:srgbClr val="303D22"/>
              </a:solidFill>
              <a:latin typeface="Arial"/>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noRot="1" noChangeAspect="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12183120"/>
          </a:xfrm>
          <a:prstGeom prst="rect">
            <a:avLst/>
          </a:prstGeom>
        </p:spPr>
        <p:txBody>
          <a:bodyPr lIns="0" tIns="0" rIns="0" bIns="0"/>
          <a:lstStyle/>
          <a:p>
            <a:r>
              <a:rPr lang="en-US" sz="2000" b="0" strike="noStrike" spc="-1">
                <a:latin typeface="Arial"/>
              </a:rPr>
              <a:t>Correlation between the changes in visual evoked potential (VEP) measurements and visual functions. Correlations between changes in VEP (A) amplitudes or (B) latencies and visual functions are shown for contrast sensitivity (left column) and object from motion (OFM; right column). Each symbol corresponds to 1 subject, indicating the delta between his acute and 4‐month phases (4‐month − acute scores). Asterisks denote 1 specific patient. His data are marked to demonstrate the reliance of contrast sensitivity improvement on VEP amplitude restoration and the insufficiency of this condition to accomplish dynamic visual functions. The patient's VEP amplitudes improved by 51% from the acute to the 4‐month phase (from 45 to 96%), and his VEP latency was elongated by 2.5 milliseconds (from 131 to 133.5 milliseconds). Correspondingly, his contrast sensitivity function improved by 0.9 units of logMAR, whereas a minimal improvement of 6% was evident in his OFM performance level. AE = affected eye; FE = fellow eye. [Color figure can be viewed in the online issue, which is available at annalsofneurology.org.] </a:t>
            </a:r>
          </a:p>
          <a:p>
            <a:r>
              <a:rPr lang="en-US" sz="2000" b="0" strike="noStrike" spc="-1">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144000" cy="6858000"/>
          </a:xfrm>
          <a:prstGeom prst="rect">
            <a:avLst/>
          </a:prstGeom>
          <a:solidFill>
            <a:srgbClr val="0054A6"/>
          </a:solidFill>
          <a:ln>
            <a:noFill/>
          </a:ln>
        </p:spPr>
        <p:style>
          <a:lnRef idx="0">
            <a:scrgbClr r="0" g="0" b="0"/>
          </a:lnRef>
          <a:fillRef idx="0">
            <a:scrgbClr r="0" g="0" b="0"/>
          </a:fillRef>
          <a:effectRef idx="0">
            <a:scrgbClr r="0" g="0" b="0"/>
          </a:effectRef>
          <a:fontRef idx="minor"/>
        </p:style>
        <p:txBody>
          <a:bodyPr/>
          <a:lstStyle/>
          <a:p>
            <a:endParaRPr lang="en-US"/>
          </a:p>
        </p:txBody>
      </p:sp>
      <p:sp>
        <p:nvSpPr>
          <p:cNvPr id="3" name="CustomShape 2"/>
          <p:cNvSpPr/>
          <p:nvPr/>
        </p:nvSpPr>
        <p:spPr>
          <a:xfrm>
            <a:off x="0" y="0"/>
            <a:ext cx="144000" cy="1198440"/>
          </a:xfrm>
          <a:prstGeom prst="rect">
            <a:avLst/>
          </a:prstGeom>
          <a:solidFill>
            <a:srgbClr val="FFCE34"/>
          </a:solidFill>
          <a:ln>
            <a:noFill/>
          </a:ln>
        </p:spPr>
        <p:style>
          <a:lnRef idx="0">
            <a:scrgbClr r="0" g="0" b="0"/>
          </a:lnRef>
          <a:fillRef idx="0">
            <a:scrgbClr r="0" g="0" b="0"/>
          </a:fillRef>
          <a:effectRef idx="0">
            <a:scrgbClr r="0" g="0" b="0"/>
          </a:effectRef>
          <a:fontRef idx="minor"/>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tIns="46800" rIns="90000" bIns="46800"/>
          <a:lstStyle/>
          <a:p>
            <a:r>
              <a:rPr lang="en-US" sz="1100" b="0" strike="noStrike" spc="-1">
                <a:solidFill>
                  <a:srgbClr val="000000"/>
                </a:solidFill>
                <a:latin typeface="Arial"/>
              </a:rPr>
              <a:t>Demyelination affects temporal aspects of perception: An optic neuritis study</a:t>
            </a:r>
          </a:p>
        </p:txBody>
      </p:sp>
      <p:sp>
        <p:nvSpPr>
          <p:cNvPr id="45" name="TextShape 2"/>
          <p:cNvSpPr txBox="1"/>
          <p:nvPr/>
        </p:nvSpPr>
        <p:spPr>
          <a:xfrm>
            <a:off x="360000" y="5940000"/>
            <a:ext cx="8640000" cy="451800"/>
          </a:xfrm>
          <a:prstGeom prst="rect">
            <a:avLst/>
          </a:prstGeom>
          <a:noFill/>
          <a:ln>
            <a:noFill/>
          </a:ln>
        </p:spPr>
        <p:txBody>
          <a:bodyPr lIns="90000" tIns="45000" rIns="90000" bIns="45000"/>
          <a:lstStyle/>
          <a:p>
            <a:r>
              <a:rPr lang="en-US" sz="800" b="1" strike="noStrike" spc="-1">
                <a:solidFill>
                  <a:srgbClr val="0054A6"/>
                </a:solidFill>
                <a:latin typeface="Arial"/>
              </a:rPr>
              <a:t>Annals of Neurology, Volume: 71, Issue: 4, Pages: 531-538, First published: 09 December 2011, DOI: (10.1002/ana.22692) </a:t>
            </a:r>
            <a:endParaRPr lang="en-US" sz="800" b="0" strike="noStrike" spc="-1">
              <a:solidFill>
                <a:srgbClr val="000000"/>
              </a:solidFill>
              <a:latin typeface="Arial"/>
            </a:endParaRPr>
          </a:p>
        </p:txBody>
      </p:sp>
      <p:pic>
        <p:nvPicPr>
          <p:cNvPr id="46" name="Main graphic"/>
          <p:cNvPicPr/>
          <p:nvPr/>
        </p:nvPicPr>
        <p:blipFill>
          <a:blip r:embed="rId3"/>
          <a:stretch/>
        </p:blipFill>
        <p:spPr>
          <a:xfrm>
            <a:off x="1422360" y="778680"/>
            <a:ext cx="6350040" cy="3777120"/>
          </a:xfrm>
          <a:prstGeom prst="rect">
            <a:avLst/>
          </a:prstGeom>
          <a:ln>
            <a:noFill/>
          </a:ln>
        </p:spPr>
      </p:pic>
    </p:spTree>
  </p:cSld>
  <p:clrMapOvr>
    <a:masterClrMapping/>
  </p:clrMapOvr>
  <p:transition>
    <p:wipe dir="r"/>
  </p:transition>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337</Words>
  <Application>Microsoft Macintosh PowerPoint</Application>
  <PresentationFormat>On-screen Show (4:3)</PresentationFormat>
  <Paragraphs>4</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Kristin Masho Elbeh</cp:lastModifiedBy>
  <cp:revision>1</cp:revision>
  <dcterms:modified xsi:type="dcterms:W3CDTF">2026-08-20T18:39:56Z</dcterms:modified>
  <dc:language>en-US</dc:language>
</cp:coreProperties>
</file>