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4"/>
  </p:normalViewPr>
  <p:slideViewPr>
    <p:cSldViewPr snapToGrid="0">
      <p:cViewPr varScale="1">
        <p:scale>
          <a:sx n="106" d="100"/>
          <a:sy n="106" d="100"/>
        </p:scale>
        <p:origin x="1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pPr algn="ctr"/>
            <a:r>
              <a:rPr lang="en-US" sz="4400" b="0" strike="noStrike" spc="-1">
                <a:latin typeface="Arial"/>
              </a:rPr>
              <a:t>Click to move the slide</a:t>
            </a:r>
          </a:p>
        </p:txBody>
      </p:sp>
      <p:sp>
        <p:nvSpPr>
          <p:cNvPr id="39"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40"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solidFill>
                  <a:srgbClr val="303D22"/>
                </a:solidFill>
                <a:latin typeface="Arial"/>
              </a:rPr>
              <a:t>&lt;header&gt;</a:t>
            </a:r>
          </a:p>
        </p:txBody>
      </p:sp>
      <p:sp>
        <p:nvSpPr>
          <p:cNvPr id="41"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solidFill>
                  <a:srgbClr val="303D22"/>
                </a:solidFill>
                <a:latin typeface="Arial"/>
              </a:rPr>
              <a:t>&lt;date/time&gt;</a:t>
            </a:r>
          </a:p>
        </p:txBody>
      </p:sp>
      <p:sp>
        <p:nvSpPr>
          <p:cNvPr id="42"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solidFill>
                  <a:srgbClr val="303D22"/>
                </a:solidFill>
                <a:latin typeface="Arial"/>
              </a:rPr>
              <a:t>&lt;footer&gt;</a:t>
            </a:r>
          </a:p>
        </p:txBody>
      </p:sp>
      <p:sp>
        <p:nvSpPr>
          <p:cNvPr id="43" name="PlaceHolder 6"/>
          <p:cNvSpPr>
            <a:spLocks noGrp="1"/>
          </p:cNvSpPr>
          <p:nvPr>
            <p:ph type="sldNum"/>
          </p:nvPr>
        </p:nvSpPr>
        <p:spPr>
          <a:xfrm>
            <a:off x="4399200" y="9555480"/>
            <a:ext cx="3372840" cy="502560"/>
          </a:xfrm>
          <a:prstGeom prst="rect">
            <a:avLst/>
          </a:prstGeom>
        </p:spPr>
        <p:txBody>
          <a:bodyPr lIns="0" tIns="0" rIns="0" bIns="0" anchor="b"/>
          <a:lstStyle/>
          <a:p>
            <a:pPr algn="r"/>
            <a:fld id="{F09120CE-3CD4-45B0-9D46-F279CB32F716}" type="slidenum">
              <a:rPr lang="en-US" sz="1400" b="0" strike="noStrike" spc="-1">
                <a:solidFill>
                  <a:srgbClr val="303D22"/>
                </a:solidFill>
                <a:latin typeface="Arial"/>
              </a:rPr>
              <a:t>‹#›</a:t>
            </a:fld>
            <a:endParaRPr lang="en-US" sz="1400" b="0" strike="noStrike" spc="-1">
              <a:solidFill>
                <a:srgbClr val="303D22"/>
              </a:solidFill>
              <a:latin typeface="Arial"/>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12183120"/>
          </a:xfrm>
          <a:prstGeom prst="rect">
            <a:avLst/>
          </a:prstGeom>
        </p:spPr>
        <p:txBody>
          <a:bodyPr lIns="0" tIns="0" rIns="0" bIns="0"/>
          <a:lstStyle/>
          <a:p>
            <a:r>
              <a:rPr lang="en-US" sz="2000" b="0" strike="noStrike" spc="-1">
                <a:latin typeface="Arial"/>
              </a:rPr>
              <a:t>Visual evoked potential (VEP) measurements, and static and dynamic visual functions throughout the 12‐month follow‐up. Changes in VEP amplitudes (A) and VEP latencies (B) over time are shown. VEP amplitudes from the affected eyes (AEs) are expressed as a percentage of those of the fellow eyes (FEs). Inset denotes absolute amplitude levels for the AEs. Changes in static (C,D) and dynamic (E) visual functions (motion perception assessed by the object from motion [OFM] test) are plotted over time. To obtain a direct comparison between measures, performance levels are expressed as a percentage of the normal values in each measure (100% of visual acuity equals 1 decimal; 100% of contrast sensitivity equals logMAR = 1.84; 100% of OFM equals control subjects' mean in each phase). Gray horizontal lines mark the mean normal values. There were 21, 20, 18, and 14 subjects in the acute, 1‐, 4‐, and 12‐month time points, respectively. Black asterisks denote significant reduction of AE performance compared to the normal values. Gray asterisks denote significant change in the AE measurements between testing phases. *p &lt; 0.05; **p &lt; 0.01; ***p &lt; 0.001. </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144000" cy="6858000"/>
          </a:xfrm>
          <a:prstGeom prst="rect">
            <a:avLst/>
          </a:prstGeom>
          <a:solidFill>
            <a:srgbClr val="0054A6"/>
          </a:solidFill>
          <a:ln>
            <a:noFill/>
          </a:ln>
        </p:spPr>
        <p:style>
          <a:lnRef idx="0">
            <a:scrgbClr r="0" g="0" b="0"/>
          </a:lnRef>
          <a:fillRef idx="0">
            <a:scrgbClr r="0" g="0" b="0"/>
          </a:fillRef>
          <a:effectRef idx="0">
            <a:scrgbClr r="0" g="0" b="0"/>
          </a:effectRef>
          <a:fontRef idx="minor"/>
        </p:style>
        <p:txBody>
          <a:bodyPr/>
          <a:lstStyle/>
          <a:p>
            <a:endParaRPr lang="en-US"/>
          </a:p>
        </p:txBody>
      </p:sp>
      <p:sp>
        <p:nvSpPr>
          <p:cNvPr id="3" name="CustomShape 2"/>
          <p:cNvSpPr/>
          <p:nvPr/>
        </p:nvSpPr>
        <p:spPr>
          <a:xfrm>
            <a:off x="0" y="0"/>
            <a:ext cx="144000" cy="1198440"/>
          </a:xfrm>
          <a:prstGeom prst="rect">
            <a:avLst/>
          </a:prstGeom>
          <a:solidFill>
            <a:srgbClr val="FFCE34"/>
          </a:solidFill>
          <a:ln>
            <a:noFill/>
          </a:ln>
        </p:spPr>
        <p:style>
          <a:lnRef idx="0">
            <a:scrgbClr r="0" g="0" b="0"/>
          </a:lnRef>
          <a:fillRef idx="0">
            <a:scrgbClr r="0" g="0" b="0"/>
          </a:fillRef>
          <a:effectRef idx="0">
            <a:scrgbClr r="0" g="0" b="0"/>
          </a:effectRef>
          <a:fontRef idx="minor"/>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tIns="46800" rIns="90000" bIns="46800"/>
          <a:lstStyle/>
          <a:p>
            <a:r>
              <a:rPr lang="en-US" sz="1100" b="0" strike="noStrike" spc="-1">
                <a:solidFill>
                  <a:srgbClr val="000000"/>
                </a:solidFill>
                <a:latin typeface="Arial"/>
              </a:rPr>
              <a:t>Demyelination affects temporal aspects of perception: An optic neuritis study</a:t>
            </a:r>
          </a:p>
        </p:txBody>
      </p:sp>
      <p:sp>
        <p:nvSpPr>
          <p:cNvPr id="45" name="TextShape 2"/>
          <p:cNvSpPr txBox="1"/>
          <p:nvPr/>
        </p:nvSpPr>
        <p:spPr>
          <a:xfrm>
            <a:off x="360000" y="5940000"/>
            <a:ext cx="8640000" cy="451800"/>
          </a:xfrm>
          <a:prstGeom prst="rect">
            <a:avLst/>
          </a:prstGeom>
          <a:noFill/>
          <a:ln>
            <a:noFill/>
          </a:ln>
        </p:spPr>
        <p:txBody>
          <a:bodyPr lIns="90000" tIns="45000" rIns="90000" bIns="45000"/>
          <a:lstStyle/>
          <a:p>
            <a:r>
              <a:rPr lang="en-US" sz="800" b="1" strike="noStrike" spc="-1">
                <a:solidFill>
                  <a:srgbClr val="0054A6"/>
                </a:solidFill>
                <a:latin typeface="Arial"/>
              </a:rPr>
              <a:t>Annals of Neurology, Volume: 71, Issue: 4, Pages: 531-538, First published: 09 December 2011, DOI: (10.1002/ana.22692) </a:t>
            </a:r>
            <a:endParaRPr lang="en-US" sz="800" b="0" strike="noStrike" spc="-1">
              <a:solidFill>
                <a:srgbClr val="000000"/>
              </a:solidFill>
              <a:latin typeface="Arial"/>
            </a:endParaRPr>
          </a:p>
        </p:txBody>
      </p:sp>
      <p:pic>
        <p:nvPicPr>
          <p:cNvPr id="46" name="Main graphic"/>
          <p:cNvPicPr/>
          <p:nvPr/>
        </p:nvPicPr>
        <p:blipFill>
          <a:blip r:embed="rId3"/>
          <a:stretch/>
        </p:blipFill>
        <p:spPr>
          <a:xfrm>
            <a:off x="2984400" y="762120"/>
            <a:ext cx="3225960" cy="3809880"/>
          </a:xfrm>
          <a:prstGeom prst="rect">
            <a:avLst/>
          </a:prstGeom>
          <a:ln>
            <a:noFill/>
          </a:ln>
        </p:spPr>
      </p:pic>
    </p:spTree>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370</Words>
  <Application>Microsoft Macintosh PowerPoint</Application>
  <PresentationFormat>On-screen Show (4:3)</PresentationFormat>
  <Paragraphs>4</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Kristin Masho Elbeh</cp:lastModifiedBy>
  <cp:revision>1</cp:revision>
  <dcterms:modified xsi:type="dcterms:W3CDTF">2026-08-20T18:40:32Z</dcterms:modified>
  <dc:language>en-US</dc:language>
</cp:coreProperties>
</file>