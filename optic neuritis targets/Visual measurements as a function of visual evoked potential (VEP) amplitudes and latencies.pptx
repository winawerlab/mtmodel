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898"/>
  </p:normalViewPr>
  <p:slideViewPr>
    <p:cSldViewPr snapToGrid="0">
      <p:cViewPr varScale="1">
        <p:scale>
          <a:sx n="93" d="100"/>
          <a:sy n="93" d="100"/>
        </p:scale>
        <p:origin x="21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pPr algn="ctr"/>
            <a:r>
              <a:rPr lang="en-US" sz="4400" b="0" strike="noStrike" spc="-1">
                <a:latin typeface="Arial"/>
              </a:rPr>
              <a:t>Click to move the slide</a:t>
            </a:r>
          </a:p>
        </p:txBody>
      </p:sp>
      <p:sp>
        <p:nvSpPr>
          <p:cNvPr id="39"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40"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solidFill>
                  <a:srgbClr val="303D22"/>
                </a:solidFill>
                <a:latin typeface="Arial"/>
              </a:rPr>
              <a:t>&lt;header&gt;</a:t>
            </a:r>
          </a:p>
        </p:txBody>
      </p:sp>
      <p:sp>
        <p:nvSpPr>
          <p:cNvPr id="41"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solidFill>
                  <a:srgbClr val="303D22"/>
                </a:solidFill>
                <a:latin typeface="Arial"/>
              </a:rPr>
              <a:t>&lt;date/time&gt;</a:t>
            </a:r>
          </a:p>
        </p:txBody>
      </p:sp>
      <p:sp>
        <p:nvSpPr>
          <p:cNvPr id="42"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solidFill>
                  <a:srgbClr val="303D22"/>
                </a:solidFill>
                <a:latin typeface="Arial"/>
              </a:rPr>
              <a:t>&lt;footer&gt;</a:t>
            </a:r>
          </a:p>
        </p:txBody>
      </p:sp>
      <p:sp>
        <p:nvSpPr>
          <p:cNvPr id="43" name="PlaceHolder 6"/>
          <p:cNvSpPr>
            <a:spLocks noGrp="1"/>
          </p:cNvSpPr>
          <p:nvPr>
            <p:ph type="sldNum"/>
          </p:nvPr>
        </p:nvSpPr>
        <p:spPr>
          <a:xfrm>
            <a:off x="4399200" y="9555480"/>
            <a:ext cx="3372840" cy="502560"/>
          </a:xfrm>
          <a:prstGeom prst="rect">
            <a:avLst/>
          </a:prstGeom>
        </p:spPr>
        <p:txBody>
          <a:bodyPr lIns="0" tIns="0" rIns="0" bIns="0" anchor="b"/>
          <a:lstStyle/>
          <a:p>
            <a:pPr algn="r"/>
            <a:fld id="{8609D743-BBAE-421C-A9E6-C144812EC60C}" type="slidenum">
              <a:rPr lang="en-US" sz="1400" b="0" strike="noStrike" spc="-1">
                <a:solidFill>
                  <a:srgbClr val="303D22"/>
                </a:solidFill>
                <a:latin typeface="Arial"/>
              </a:rPr>
              <a:t>‹#›</a:t>
            </a:fld>
            <a:endParaRPr lang="en-US" sz="1400" b="0" strike="noStrike" spc="-1">
              <a:solidFill>
                <a:srgbClr val="303D22"/>
              </a:solidFill>
              <a:latin typeface="Arial"/>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9633240"/>
          </a:xfrm>
          <a:prstGeom prst="rect">
            <a:avLst/>
          </a:prstGeom>
        </p:spPr>
        <p:txBody>
          <a:bodyPr lIns="0" tIns="0" rIns="0" bIns="0"/>
          <a:lstStyle/>
          <a:p>
            <a:r>
              <a:rPr lang="en-US" sz="2000" b="0" strike="noStrike" spc="-1">
                <a:latin typeface="Arial"/>
              </a:rPr>
              <a:t>Visual measurements as a function of visual evoked potential (VEP) amplitudes and latencies. Visual acuity, contrast sensitivity, and object from motion (OFM) levels in optic neuritis eyes with (A) impaired and (B) intact amplitudes (n = 5 and 16, respectively) are shown. (C) Performance levels for the different visual measurements for eyes with intact amplitudes are divided according to their VEP latencies (&lt;136 milliseconds, n = 8; &gt;136 milliseconds, n = 8; a threshold of 136 milliseconds was chosen because this was the median latency level among eyes with intact amplitudes). The data included for each patient were taken from the latest time point available. Asterisks denote significant reduction of AE performance as compared to the normal values, *p &lt; 0.05; ***p &lt; 0.001. </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144000" cy="6858000"/>
          </a:xfrm>
          <a:prstGeom prst="rect">
            <a:avLst/>
          </a:prstGeom>
          <a:solidFill>
            <a:srgbClr val="0054A6"/>
          </a:solidFill>
          <a:ln>
            <a:noFill/>
          </a:ln>
        </p:spPr>
        <p:style>
          <a:lnRef idx="0">
            <a:scrgbClr r="0" g="0" b="0"/>
          </a:lnRef>
          <a:fillRef idx="0">
            <a:scrgbClr r="0" g="0" b="0"/>
          </a:fillRef>
          <a:effectRef idx="0">
            <a:scrgbClr r="0" g="0" b="0"/>
          </a:effectRef>
          <a:fontRef idx="minor"/>
        </p:style>
        <p:txBody>
          <a:bodyPr/>
          <a:lstStyle/>
          <a:p>
            <a:endParaRPr lang="en-US"/>
          </a:p>
        </p:txBody>
      </p:sp>
      <p:sp>
        <p:nvSpPr>
          <p:cNvPr id="3" name="CustomShape 2"/>
          <p:cNvSpPr/>
          <p:nvPr/>
        </p:nvSpPr>
        <p:spPr>
          <a:xfrm>
            <a:off x="0" y="0"/>
            <a:ext cx="144000" cy="1198440"/>
          </a:xfrm>
          <a:prstGeom prst="rect">
            <a:avLst/>
          </a:prstGeom>
          <a:solidFill>
            <a:srgbClr val="FFCE34"/>
          </a:solidFill>
          <a:ln>
            <a:noFill/>
          </a:ln>
        </p:spPr>
        <p:style>
          <a:lnRef idx="0">
            <a:scrgbClr r="0" g="0" b="0"/>
          </a:lnRef>
          <a:fillRef idx="0">
            <a:scrgbClr r="0" g="0" b="0"/>
          </a:fillRef>
          <a:effectRef idx="0">
            <a:scrgbClr r="0" g="0" b="0"/>
          </a:effectRef>
          <a:fontRef idx="minor"/>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tIns="46800" rIns="90000" bIns="46800"/>
          <a:lstStyle/>
          <a:p>
            <a:r>
              <a:rPr lang="en-US" sz="1100" b="0" strike="noStrike" spc="-1">
                <a:solidFill>
                  <a:srgbClr val="000000"/>
                </a:solidFill>
                <a:latin typeface="Arial"/>
              </a:rPr>
              <a:t>Demyelination affects temporal aspects of perception: An optic neuritis study</a:t>
            </a:r>
          </a:p>
        </p:txBody>
      </p:sp>
      <p:sp>
        <p:nvSpPr>
          <p:cNvPr id="45" name="TextShape 2"/>
          <p:cNvSpPr txBox="1"/>
          <p:nvPr/>
        </p:nvSpPr>
        <p:spPr>
          <a:xfrm>
            <a:off x="360000" y="5940000"/>
            <a:ext cx="8640000" cy="451800"/>
          </a:xfrm>
          <a:prstGeom prst="rect">
            <a:avLst/>
          </a:prstGeom>
          <a:noFill/>
          <a:ln>
            <a:noFill/>
          </a:ln>
        </p:spPr>
        <p:txBody>
          <a:bodyPr lIns="90000" tIns="45000" rIns="90000" bIns="45000"/>
          <a:lstStyle/>
          <a:p>
            <a:r>
              <a:rPr lang="en-US" sz="800" b="1" strike="noStrike" spc="-1">
                <a:solidFill>
                  <a:srgbClr val="0054A6"/>
                </a:solidFill>
                <a:latin typeface="Arial"/>
              </a:rPr>
              <a:t>Annals of Neurology, Volume: 71, Issue: 4, Pages: 531-538, First published: 09 December 2011, DOI: (10.1002/ana.22692) </a:t>
            </a:r>
            <a:endParaRPr lang="en-US" sz="800" b="0" strike="noStrike" spc="-1">
              <a:solidFill>
                <a:srgbClr val="000000"/>
              </a:solidFill>
              <a:latin typeface="Arial"/>
            </a:endParaRPr>
          </a:p>
        </p:txBody>
      </p:sp>
      <p:pic>
        <p:nvPicPr>
          <p:cNvPr id="46" name="Main graphic"/>
          <p:cNvPicPr/>
          <p:nvPr/>
        </p:nvPicPr>
        <p:blipFill>
          <a:blip r:embed="rId3"/>
          <a:stretch/>
        </p:blipFill>
        <p:spPr>
          <a:xfrm>
            <a:off x="3376800" y="762120"/>
            <a:ext cx="2441160" cy="3809880"/>
          </a:xfrm>
          <a:prstGeom prst="rect">
            <a:avLst/>
          </a:prstGeom>
          <a:ln>
            <a:noFill/>
          </a:ln>
        </p:spPr>
      </p:pic>
    </p:spTree>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283</Words>
  <Application>Microsoft Macintosh PowerPoint</Application>
  <PresentationFormat>On-screen Show (4:3)</PresentationFormat>
  <Paragraphs>4</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Kristin Masho Elbeh</cp:lastModifiedBy>
  <cp:revision>1</cp:revision>
  <dcterms:modified xsi:type="dcterms:W3CDTF">2026-08-20T18:40:16Z</dcterms:modified>
  <dc:language>en-US</dc:language>
</cp:coreProperties>
</file>